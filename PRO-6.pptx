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12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51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80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85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811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957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09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00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8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82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363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734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8640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570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730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185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A53A2-A211-4094-B0EB-D0C627D4CAC6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CDF6731-2C27-4462-85FC-996A67BAFC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69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29F3F2-6381-53C8-4C29-A3401C0B5EAF}"/>
              </a:ext>
            </a:extLst>
          </p:cNvPr>
          <p:cNvSpPr txBox="1"/>
          <p:nvPr/>
        </p:nvSpPr>
        <p:spPr>
          <a:xfrm>
            <a:off x="934064" y="2317624"/>
            <a:ext cx="7125929" cy="101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Marketing Campaign Analysis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Data-Driven Performance Insights &amp; Growth Strategy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D3252-9D60-A557-5D13-B1006DF9B93A}"/>
              </a:ext>
            </a:extLst>
          </p:cNvPr>
          <p:cNvSpPr txBox="1"/>
          <p:nvPr/>
        </p:nvSpPr>
        <p:spPr>
          <a:xfrm>
            <a:off x="934064" y="3522854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Presenter:</a:t>
            </a: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Prasanna Kumar 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2A73D2-C293-222E-9629-442A6D1DC753}"/>
              </a:ext>
            </a:extLst>
          </p:cNvPr>
          <p:cNvSpPr txBox="1"/>
          <p:nvPr/>
        </p:nvSpPr>
        <p:spPr>
          <a:xfrm>
            <a:off x="934064" y="4079893"/>
            <a:ext cx="8750710" cy="70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Using Google Analytics 4 data to optimize multi-channel marketing funnels and maximize client ROI.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85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356AC3-1718-8DB0-B246-1C8258247BD6}"/>
              </a:ext>
            </a:extLst>
          </p:cNvPr>
          <p:cNvSpPr txBox="1"/>
          <p:nvPr/>
        </p:nvSpPr>
        <p:spPr>
          <a:xfrm>
            <a:off x="540774" y="453587"/>
            <a:ext cx="609600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Objectives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634E4-DB7A-C837-631A-8007C40A7EEC}"/>
              </a:ext>
            </a:extLst>
          </p:cNvPr>
          <p:cNvSpPr txBox="1"/>
          <p:nvPr/>
        </p:nvSpPr>
        <p:spPr>
          <a:xfrm>
            <a:off x="1061883" y="1937310"/>
            <a:ext cx="8593394" cy="2609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Translating Raw Data into Actionable Business Value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Goal: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Analyse digital marketing data to identify trends, eliminate performance gaps, and boost conversions.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Mission: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Overcome challenges like inconsistent raw data and long preprocessing times.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Interactive Power BI dashboards that provide clean, real-time campaign clarity to stakeholders.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42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0776B0-A7E6-2E97-1CDD-B0503CFAF7FC}"/>
              </a:ext>
            </a:extLst>
          </p:cNvPr>
          <p:cNvSpPr txBox="1"/>
          <p:nvPr/>
        </p:nvSpPr>
        <p:spPr>
          <a:xfrm>
            <a:off x="334296" y="3954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Core Analytical Framework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DC65BA-D193-C311-E45A-D8F0364C7710}"/>
              </a:ext>
            </a:extLst>
          </p:cNvPr>
          <p:cNvSpPr txBox="1"/>
          <p:nvPr/>
        </p:nvSpPr>
        <p:spPr>
          <a:xfrm>
            <a:off x="1366683" y="1424439"/>
            <a:ext cx="8337755" cy="3453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Campaign dashboard logic relies on four standard marketing metrics: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Click-Through Rate (CTR): 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CTR tells how many people clocked on ad after seeing [CTR = (No. of Clicks / No. of Impression ) * 100]</a:t>
            </a:r>
            <a:endParaRPr lang="en-IN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Per Click (CPC): 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Average amount spent for one click. [CPC = Total Ad spends / Total Clicks]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Return on Investment (ROI):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ROI tells whether your advertising investment made a Profit or a Loss [ROI =[(Revenue – Cost) / Cost] * 100]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Conversion Rate:</a:t>
            </a:r>
            <a:r>
              <a:rPr lang="en-IN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Conversion Rate is when users does what you want to them to do,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Conversion Rate = (Conversions / Clicks) * 100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451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6AF8AA-D4BA-7492-3AE7-9F33FA0D25C2}"/>
              </a:ext>
            </a:extLst>
          </p:cNvPr>
          <p:cNvSpPr txBox="1"/>
          <p:nvPr/>
        </p:nvSpPr>
        <p:spPr>
          <a:xfrm>
            <a:off x="412955" y="3266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Multi-Channel Performance Summary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82A91B-840F-B5C6-D92F-6E5AD8D8A6B1}"/>
              </a:ext>
            </a:extLst>
          </p:cNvPr>
          <p:cNvSpPr txBox="1"/>
          <p:nvPr/>
        </p:nvSpPr>
        <p:spPr>
          <a:xfrm>
            <a:off x="997974" y="1534553"/>
            <a:ext cx="8721213" cy="3349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Balancing Traffic Volume against Revenue Yield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Traffic: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Core audience foundation with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49,150 users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driving a massive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8,502 key events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$1,003.59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revenue.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Organic Search: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primary profitability engine, generating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$2,811.96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revenue with an outstanding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2,235% ROI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Paid Search: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hyper-efficient conversion engine, delivering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$858.01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revenue and a top-tier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8,740% ROI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Organic Social &amp; Shopping: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High brand exposure but flat sales pipeline, yielding a calculated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-100% ROI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($0.00 revenue).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10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349859-700F-7EBA-A04E-942E8FD13D1E}"/>
              </a:ext>
            </a:extLst>
          </p:cNvPr>
          <p:cNvSpPr txBox="1"/>
          <p:nvPr/>
        </p:nvSpPr>
        <p:spPr>
          <a:xfrm>
            <a:off x="265470" y="2479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Geographic Market Breakdown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A772E-7F59-C921-9DE2-2B743A272860}"/>
              </a:ext>
            </a:extLst>
          </p:cNvPr>
          <p:cNvSpPr txBox="1"/>
          <p:nvPr/>
        </p:nvSpPr>
        <p:spPr>
          <a:xfrm>
            <a:off x="1120878" y="1750998"/>
            <a:ext cx="8613058" cy="2609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Identifying High-Value National Markets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United States: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undisputed core market anchor, bringing in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37,862 users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driving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$1,671.95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revenue.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Canada &amp; India: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Prominent volume drivers with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6,256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2,880 users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respectively, forming a massive pool of untapped conversion potential.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Taiwan: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Highly responsive market niche; generated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861 key events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from a relatively small footprint of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1,269 users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058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D24C1D-B7F3-5D83-A0C1-FCD59DAE220F}"/>
              </a:ext>
            </a:extLst>
          </p:cNvPr>
          <p:cNvSpPr txBox="1"/>
          <p:nvPr/>
        </p:nvSpPr>
        <p:spPr>
          <a:xfrm>
            <a:off x="442452" y="5232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Demographic Age Dynamics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41D2C-EA3D-A887-33B1-5D2E5E28EC3F}"/>
              </a:ext>
            </a:extLst>
          </p:cNvPr>
          <p:cNvSpPr txBox="1"/>
          <p:nvPr/>
        </p:nvSpPr>
        <p:spPr>
          <a:xfrm>
            <a:off x="1661652" y="1917645"/>
            <a:ext cx="8082116" cy="2609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Locating the Core Purchasing Power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Ages 35–44 (Premium Group):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ultimate value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center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generating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$3,033.79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—accounting for over 59% of all trackable revenue.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Ages 18–34 (Young Professionals):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Highly active engagement hub representing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12,640 combined users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4,114 key events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Unknown Cohort: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Privacy-centric browser segment contributing a notable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$1,245.56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revenue and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7,998 key events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628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4E2AA0-7792-6AC7-830B-555654DD5311}"/>
              </a:ext>
            </a:extLst>
          </p:cNvPr>
          <p:cNvSpPr txBox="1"/>
          <p:nvPr/>
        </p:nvSpPr>
        <p:spPr>
          <a:xfrm>
            <a:off x="415413" y="414258"/>
            <a:ext cx="610091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High-Intent Audience Interests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A3321-F99D-0BAD-2685-26276BA18699}"/>
              </a:ext>
            </a:extLst>
          </p:cNvPr>
          <p:cNvSpPr txBox="1"/>
          <p:nvPr/>
        </p:nvSpPr>
        <p:spPr>
          <a:xfrm>
            <a:off x="1002890" y="1914229"/>
            <a:ext cx="8561439" cy="2609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Behavioural Alignment Strategy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/ Technophiles: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strongest buyer profile, leading with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10,602 users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generating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$3,507.90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revenue.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 &amp; Entertainment: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Massive interaction footprint, highlighting strong top-of-funnel engagement that needs better monetized pathways.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Takeaway: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Aligning creative assets and budget directly with technology-focused consumer sub-segments yields the fastest financial efficiency.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7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7817CE-05BF-9C0A-8143-B5B71DFBA035}"/>
              </a:ext>
            </a:extLst>
          </p:cNvPr>
          <p:cNvSpPr txBox="1"/>
          <p:nvPr/>
        </p:nvSpPr>
        <p:spPr>
          <a:xfrm>
            <a:off x="425245" y="355264"/>
            <a:ext cx="610091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Design Principles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A64A2C-1E3E-165D-F0F4-55323D8AFA7C}"/>
              </a:ext>
            </a:extLst>
          </p:cNvPr>
          <p:cNvSpPr txBox="1"/>
          <p:nvPr/>
        </p:nvSpPr>
        <p:spPr>
          <a:xfrm>
            <a:off x="671051" y="1491442"/>
            <a:ext cx="8726129" cy="2609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Delivering Clarity at a Glance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User-Centric Design: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Built explicitly for clients and marketing managers who require rapid, intuitive insight to optimize campaigns.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Assets: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Focuses on clean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KPI Cards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instant health checks, alongside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Bar/Line Charts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visual trend overviews.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Minimal Clutter: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Emphasizes high-impact performance indicators (CTR, CPC, ROI) to eliminate unnecessary data noise.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53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9FC6AA-BBC1-043B-0E60-1C2BDCB3DA3F}"/>
              </a:ext>
            </a:extLst>
          </p:cNvPr>
          <p:cNvSpPr txBox="1"/>
          <p:nvPr/>
        </p:nvSpPr>
        <p:spPr>
          <a:xfrm>
            <a:off x="336754" y="394593"/>
            <a:ext cx="610091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&amp; Strategic Roadmap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BFD9C-2889-02DC-49BD-3372D72C5172}"/>
              </a:ext>
            </a:extLst>
          </p:cNvPr>
          <p:cNvSpPr txBox="1"/>
          <p:nvPr/>
        </p:nvSpPr>
        <p:spPr>
          <a:xfrm>
            <a:off x="530942" y="1435729"/>
            <a:ext cx="8669593" cy="3986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Data-Driven Roadmap for Sustainable Growth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Reallocate Marketing Spend: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Immediately shift budget away from low-performing channels (-100% ROI tracks like Organic Social) and invest heavily into high-performing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Paid and Organic Search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funnels.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 Core Value Demographics: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Refocus campaign targeting parameters onto the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35–44 age demographic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Technophile interest groups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significantly lower overall customer acquisition costs.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Enhance First-Touch Conversion Architecture: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Optimize the root homepage (/) layout to seamlessly convert initial pageview traffic into high-value key events.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Ultimate Outcome: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Transitioning from reactive tactics to data-validated marketing strategies ensures maximum long-term client ROI and robust campaign growth.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00401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</TotalTime>
  <Words>698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Symbol</vt:lpstr>
      <vt:lpstr>Times New Roman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Prasanna Kumar</dc:creator>
  <cp:lastModifiedBy>Prasanna Kumar</cp:lastModifiedBy>
  <cp:revision>1</cp:revision>
  <dcterms:created xsi:type="dcterms:W3CDTF">2026-07-10T04:19:14Z</dcterms:created>
  <dcterms:modified xsi:type="dcterms:W3CDTF">2026-07-10T04:26:55Z</dcterms:modified>
</cp:coreProperties>
</file>